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26BD68-5293-4141-A562-1D3C7A95C30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7D47E-2A34-465A-A4B9-701B6156A0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8905D6-E49D-4197-8DC3-B7B971DE54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D86DEA-5369-4064-8FB3-82DDFA8359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6CE03A-45B5-43B2-9655-4B0DA11E9D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4954A5-041B-42B6-852E-D6BA2918DA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BC95D1-3971-4836-9BDD-E8701962C7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7A8CC9-7948-4241-969E-967AE876BE1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0A71AD-CA44-493B-8B65-55A3E361AE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920240"/>
            <a:ext cx="6217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ПРАКТИКА №3 · ООП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2331720"/>
            <a:ext cx="64004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Классы в Python: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расширяем инструментарий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66640" y="4160520"/>
            <a:ext cx="1005840" cy="360"/>
          </a:xfrm>
          <a:prstGeom prst="line">
            <a:avLst/>
          </a:prstGeom>
          <a:ln w="31750">
            <a:solidFill>
              <a:srgbClr val="4EC9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4297680"/>
            <a:ext cx="6126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Атрибуты класса, виды методов, инкапсуляция, property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и взгляд на то, как это устроено в других языках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7086600" y="1005840"/>
            <a:ext cx="4571640" cy="4845960"/>
          </a:xfrm>
          <a:prstGeom prst="roundRect">
            <a:avLst>
              <a:gd name="adj" fmla="val 2000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7086600" y="1005840"/>
            <a:ext cx="457164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086600" y="1152000"/>
            <a:ext cx="457164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7214760" y="11156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397640" y="11156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7580520" y="11156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818120" y="10058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account.py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7306200" y="1389960"/>
            <a:ext cx="4132800" cy="437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Account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bank_name = </a:t>
            </a:r>
            <a:r>
              <a:rPr lang="en-US" sz="12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"PyBank"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owner, balance=0):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.owner = owner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._balance = balance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property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balance(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._balance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classmethod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new(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cls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owner):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cls</a:t>
            </a:r>
            <a:r>
              <a:rPr lang="en-US" sz="12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(owner, 0)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КОРОТКО ВСПОМНИМ И ЧТО СЕГОДНЯ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С прошлого раза → к сегодняшнему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548640" y="1783080"/>
            <a:ext cx="5348880" cy="4251600"/>
          </a:xfrm>
          <a:prstGeom prst="roundRect">
            <a:avLst>
              <a:gd name="adj" fmla="val 2581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868680" y="19659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9A9AB0"/>
                </a:solidFill>
                <a:effectLst/>
                <a:uFillTx/>
                <a:latin typeface="Cambria"/>
                <a:ea typeface="Cambria"/>
              </a:rPr>
              <a:t>Было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868680" y="2468880"/>
            <a:ext cx="4754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class, __init__, self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Методы объекта, __str__, __lt__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Тизер наследования (Student → Graduate)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6263640" y="1783080"/>
            <a:ext cx="5348880" cy="4251600"/>
          </a:xfrm>
          <a:prstGeom prst="roundRect">
            <a:avLst>
              <a:gd name="adj" fmla="val 2581"/>
            </a:avLst>
          </a:prstGeom>
          <a:solidFill>
            <a:srgbClr val="2D2D42"/>
          </a:solidFill>
          <a:ln w="15875">
            <a:solidFill>
              <a:srgbClr val="4EC9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583680" y="19659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Сегодня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6583680" y="2468880"/>
            <a:ext cx="4754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Атрибуты класса vs атрибуты экземпляра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instance / classmethod / staticmethod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Инкапсуляция: _protected, __private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@property — управляемые атрибуты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Как это выглядит в Java / C++ / JS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ПЕРВАЯ ЛОВУШКА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Один атрибут на всех — или свой у каждого?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dog.py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Dog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species = 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"Canis familiaris"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атрибут класса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name):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.name = name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атрибут экземпляра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rex =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Dog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"Рекс"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bob =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Dog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"Боб"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(rex.species, bob.species)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Dog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.species = 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"Другой вид"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(rex.species)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изменилось у ОБОИХ!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(bob.species)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species объявлен в теле класса — он один общий на все объекты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self.name создаётся отдельно у каждого объекта в __init__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Если поменять атрибут через имя класса — увидят все экземпляры сразу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Частая ловушка: изменяемый атрибут класса (список, словарь) на всех объектах — общий и «утекает» между ними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НЕ ТОЛЬКО ОБЫЧНЫЕ МЕТОДЫ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instance / classmethod / staticmethod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640080" y="160020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gear.png"/>
          <p:cNvPicPr/>
          <p:nvPr/>
        </p:nvPicPr>
        <p:blipFill>
          <a:blip r:embed="rId1"/>
          <a:stretch/>
        </p:blipFill>
        <p:spPr>
          <a:xfrm>
            <a:off x="841320" y="18014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3"/>
          <p:cNvSpPr/>
          <p:nvPr/>
        </p:nvSpPr>
        <p:spPr>
          <a:xfrm>
            <a:off x="1417320" y="17647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Instance method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417320" y="210312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868680" y="2468880"/>
            <a:ext cx="3062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Обычный метод. Работает с конкретным объектом и его данными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4434840" y="160020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1" descr="layers.png"/>
          <p:cNvPicPr/>
          <p:nvPr/>
        </p:nvPicPr>
        <p:blipFill>
          <a:blip r:embed="rId2"/>
          <a:stretch/>
        </p:blipFill>
        <p:spPr>
          <a:xfrm>
            <a:off x="4636080" y="18014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7"/>
          <p:cNvSpPr/>
          <p:nvPr/>
        </p:nvSpPr>
        <p:spPr>
          <a:xfrm>
            <a:off x="5212080" y="17647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classmethod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5212080" y="210312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cls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4663440" y="2468880"/>
            <a:ext cx="3062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Работает с самим классом, а не с объектом. Часто — альтернативный конструктор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8229600" y="1600200"/>
            <a:ext cx="3520080" cy="2194200"/>
          </a:xfrm>
          <a:prstGeom prst="roundRect">
            <a:avLst>
              <a:gd name="adj" fmla="val 4167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2" descr="cube.png"/>
          <p:cNvPicPr/>
          <p:nvPr/>
        </p:nvPicPr>
        <p:blipFill>
          <a:blip r:embed="rId3"/>
          <a:stretch/>
        </p:blipFill>
        <p:spPr>
          <a:xfrm>
            <a:off x="8430840" y="18014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 11"/>
          <p:cNvSpPr/>
          <p:nvPr/>
        </p:nvSpPr>
        <p:spPr>
          <a:xfrm>
            <a:off x="9006840" y="17647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staticmethod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9006840" y="210312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—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8458200" y="2468880"/>
            <a:ext cx="3062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Не получает ни self, ни cls. Просто утилита, логически живущая внутри класса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>
            <a:off x="640080" y="3977640"/>
            <a:ext cx="10926720" cy="2422800"/>
          </a:xfrm>
          <a:prstGeom prst="roundRect">
            <a:avLst>
              <a:gd name="adj" fmla="val 3774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640080" y="3977640"/>
            <a:ext cx="1092672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6"/>
          <p:cNvSpPr/>
          <p:nvPr/>
        </p:nvSpPr>
        <p:spPr>
          <a:xfrm>
            <a:off x="640080" y="4123800"/>
            <a:ext cx="1092672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768240" y="4087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>
            <a:off x="951120" y="4087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9"/>
          <p:cNvSpPr/>
          <p:nvPr/>
        </p:nvSpPr>
        <p:spPr>
          <a:xfrm>
            <a:off x="1134000" y="4087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1371600" y="3977640"/>
            <a:ext cx="1001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shape.py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859680" y="4361760"/>
            <a:ext cx="10487880" cy="19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Shape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area(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                 </a:t>
            </a:r>
            <a:r>
              <a:rPr lang="en-US" sz="10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instance method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classmethod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unit_square(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cls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           </a:t>
            </a:r>
            <a:r>
              <a:rPr lang="en-US" sz="10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альтернативный конструктор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cls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staticmethod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is_positive(x):             </a:t>
            </a:r>
            <a:r>
              <a:rPr lang="en-US" sz="10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просто утилита рядом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x &gt; 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СКРЫВАЕМ ДЕТАЛИ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Инкапсуляция по-питоновски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wallet.py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Wallet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balance):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.balance = balance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публичный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._pin = 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"0000"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protected: не лезь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.__secret = </a:t>
            </a:r>
            <a:r>
              <a:rPr lang="en-US" sz="120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"xyz"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private: name mangling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w = </a:t>
            </a:r>
            <a:r>
              <a:rPr lang="en-US" sz="12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Wallet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(100)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(w.balance)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ок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(w._pin)    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можно, но не принято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(w.__secret)   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AttributeError!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print</a:t>
            </a:r>
            <a:r>
              <a:rPr lang="en-US" sz="12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(w._Wallet__secret)  </a:t>
            </a: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а вот так — можно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_protected — соглашение: «не трогай снаружи», но Python не запрещает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__private — срабатывает name mangling: имя превращается в _ИмяКласса__атрибут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Это не настоящая защита, а подсказка коллегам и немного защиты от случайных конфликтов имён при наследовании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400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В отличие от Java/C++ здесь нет жёстких модификаторов доступа на уровне языка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УПРАВЛЯЕМЫЕ АТРИБУТЫ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@property: геттер и сеттер без лишнего кода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548640" y="1691640"/>
            <a:ext cx="6309000" cy="4434480"/>
          </a:xfrm>
          <a:prstGeom prst="roundRect">
            <a:avLst>
              <a:gd name="adj" fmla="val 2062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48640" y="1691640"/>
            <a:ext cx="630900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548640" y="1837800"/>
            <a:ext cx="630900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"/>
          <p:cNvSpPr/>
          <p:nvPr/>
        </p:nvSpPr>
        <p:spPr>
          <a:xfrm>
            <a:off x="676800" y="180144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859680" y="180144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1042560" y="180144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1280160" y="169164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person.py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768240" y="2075760"/>
            <a:ext cx="5870160" cy="39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Person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__init__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age):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._age = age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property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age(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._age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@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age.setter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def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age(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, value):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if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value &lt; 0: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raise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ValueError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E9178"/>
                </a:solidFill>
                <a:effectLst/>
                <a:uFillTx/>
                <a:latin typeface="Courier New"/>
                <a:ea typeface="Courier New"/>
              </a:rPr>
              <a:t>"Возраст &lt; 0!"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self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._age = value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 = </a:t>
            </a:r>
            <a:r>
              <a:rPr lang="en-US" sz="115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Person</a:t>
            </a: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(20)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p.age = 21  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выглядит как атрибут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p.age = -5        </a:t>
            </a:r>
            <a:r>
              <a:rPr lang="en-US" sz="115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 а тут сработает проверка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7178040" y="1783080"/>
            <a:ext cx="44802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Снаружи это выглядит как обычный атрибут: p.age, без скобок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Внутри — полноценная функция с проверками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E8E8F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Отличный способ добавить валидацию, не ломая уже написанный код, который использует p.age напрямую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48640" y="3841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201" strike="noStrike">
                <a:solidFill>
                  <a:srgbClr val="4EC9B0"/>
                </a:solidFill>
                <a:effectLst/>
                <a:uFillTx/>
                <a:latin typeface="Calibri"/>
                <a:ea typeface="Calibri"/>
              </a:rPr>
              <a:t>ВЗГЛЯД ПО СТОРОНАМ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48640" y="658440"/>
            <a:ext cx="11063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Классы — не только про Python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548640" y="1600200"/>
            <a:ext cx="3520080" cy="3794400"/>
          </a:xfrm>
          <a:prstGeom prst="roundRect">
            <a:avLst>
              <a:gd name="adj" fmla="val 2597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548640" y="1600200"/>
            <a:ext cx="352008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548640" y="1746360"/>
            <a:ext cx="352008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5"/>
          <p:cNvSpPr/>
          <p:nvPr/>
        </p:nvSpPr>
        <p:spPr>
          <a:xfrm>
            <a:off x="676800" y="171000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859680" y="171000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1042560" y="171000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1280160" y="16002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Point.java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768240" y="1984320"/>
            <a:ext cx="3081240" cy="33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public </a:t>
            </a:r>
            <a:r>
              <a:rPr lang="en-US" sz="10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private double x, y;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public </a:t>
            </a:r>
            <a:r>
              <a:rPr lang="en-US" sz="10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(double x, double y)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this.x = x;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this.y = y;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public double getX()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x;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0"/>
          <p:cNvSpPr/>
          <p:nvPr/>
        </p:nvSpPr>
        <p:spPr>
          <a:xfrm>
            <a:off x="548640" y="550476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public/private — на уровне языка, не соглашение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4343400" y="1600200"/>
            <a:ext cx="3520080" cy="3794400"/>
          </a:xfrm>
          <a:prstGeom prst="roundRect">
            <a:avLst>
              <a:gd name="adj" fmla="val 2597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2"/>
          <p:cNvSpPr/>
          <p:nvPr/>
        </p:nvSpPr>
        <p:spPr>
          <a:xfrm>
            <a:off x="4343400" y="1600200"/>
            <a:ext cx="352008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3"/>
          <p:cNvSpPr/>
          <p:nvPr/>
        </p:nvSpPr>
        <p:spPr>
          <a:xfrm>
            <a:off x="4343400" y="1746360"/>
            <a:ext cx="352008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4471560" y="171000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5"/>
          <p:cNvSpPr/>
          <p:nvPr/>
        </p:nvSpPr>
        <p:spPr>
          <a:xfrm>
            <a:off x="4654440" y="171000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6"/>
          <p:cNvSpPr/>
          <p:nvPr/>
        </p:nvSpPr>
        <p:spPr>
          <a:xfrm>
            <a:off x="4837320" y="171000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5074920" y="16002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point.cpp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4563000" y="1984320"/>
            <a:ext cx="3081240" cy="33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private: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double x, y;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public: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(double x, double y)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: x(x), y(y) {}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double getX() const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x;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};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4343400" y="550476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явные секции public/private, ручное управление памятью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0"/>
          <p:cNvSpPr/>
          <p:nvPr/>
        </p:nvSpPr>
        <p:spPr>
          <a:xfrm>
            <a:off x="8138160" y="1600200"/>
            <a:ext cx="3520080" cy="3794400"/>
          </a:xfrm>
          <a:prstGeom prst="roundRect">
            <a:avLst>
              <a:gd name="adj" fmla="val 2597"/>
            </a:avLst>
          </a:prstGeom>
          <a:solidFill>
            <a:srgbClr val="272736"/>
          </a:solidFill>
          <a:ln w="12700">
            <a:solidFill>
              <a:srgbClr val="3A3A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21"/>
          <p:cNvSpPr/>
          <p:nvPr/>
        </p:nvSpPr>
        <p:spPr>
          <a:xfrm>
            <a:off x="8138160" y="1600200"/>
            <a:ext cx="3520080" cy="292320"/>
          </a:xfrm>
          <a:prstGeom prst="roundRect">
            <a:avLst>
              <a:gd name="adj" fmla="val 31250"/>
            </a:avLst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2"/>
          <p:cNvSpPr/>
          <p:nvPr/>
        </p:nvSpPr>
        <p:spPr>
          <a:xfrm>
            <a:off x="8138160" y="1746360"/>
            <a:ext cx="3520080" cy="145800"/>
          </a:xfrm>
          <a:prstGeom prst="rect">
            <a:avLst/>
          </a:prstGeom>
          <a:solidFill>
            <a:srgbClr val="2D2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3"/>
          <p:cNvSpPr/>
          <p:nvPr/>
        </p:nvSpPr>
        <p:spPr>
          <a:xfrm>
            <a:off x="8266320" y="1710000"/>
            <a:ext cx="72720" cy="7272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4"/>
          <p:cNvSpPr/>
          <p:nvPr/>
        </p:nvSpPr>
        <p:spPr>
          <a:xfrm>
            <a:off x="8449200" y="1710000"/>
            <a:ext cx="72720" cy="7272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5"/>
          <p:cNvSpPr/>
          <p:nvPr/>
        </p:nvSpPr>
        <p:spPr>
          <a:xfrm>
            <a:off x="8632080" y="1710000"/>
            <a:ext cx="72720" cy="7272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6840" rIns="90000" bIns="684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6"/>
          <p:cNvSpPr/>
          <p:nvPr/>
        </p:nvSpPr>
        <p:spPr>
          <a:xfrm>
            <a:off x="8869680" y="16002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ourier New"/>
                <a:ea typeface="Courier New"/>
              </a:rPr>
              <a:t>point.js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7"/>
          <p:cNvSpPr/>
          <p:nvPr/>
        </p:nvSpPr>
        <p:spPr>
          <a:xfrm>
            <a:off x="8357760" y="1984320"/>
            <a:ext cx="3081240" cy="33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4EC9B0"/>
                </a:solidFill>
                <a:effectLst/>
                <a:uFillTx/>
                <a:latin typeface="Courier New"/>
                <a:ea typeface="Courier New"/>
              </a:rPr>
              <a:t>Point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#x; #y;   // приватно, с ES2022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constructor(x, y)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this.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#x = x;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this.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#y = y;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get x() {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000" b="1" u="none" strike="noStrike">
                <a:solidFill>
                  <a:srgbClr val="C586C0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this.</a:t>
            </a:r>
            <a:r>
              <a:rPr lang="en-US" sz="1000" b="0" u="none" strike="noStrike">
                <a:solidFill>
                  <a:srgbClr val="6A9955"/>
                </a:solidFill>
                <a:effectLst/>
                <a:uFillTx/>
                <a:latin typeface="Courier New"/>
                <a:ea typeface="Courier New"/>
              </a:rPr>
              <a:t>#x;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    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8F0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8"/>
          <p:cNvSpPr/>
          <p:nvPr/>
        </p:nvSpPr>
        <p:spPr>
          <a:xfrm>
            <a:off x="8138160" y="550476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this вместо self, # для настоящей приватности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9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Image 0" descr="rocket.png"/>
          <p:cNvPicPr/>
          <p:nvPr/>
        </p:nvPicPr>
        <p:blipFill>
          <a:blip r:embed="rId1"/>
          <a:stretch/>
        </p:blipFill>
        <p:spPr>
          <a:xfrm>
            <a:off x="594360" y="64008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0"/>
          <p:cNvSpPr/>
          <p:nvPr/>
        </p:nvSpPr>
        <p:spPr>
          <a:xfrm>
            <a:off x="1325880" y="65844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Итоги и переход к практике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"/>
          <p:cNvSpPr/>
          <p:nvPr/>
        </p:nvSpPr>
        <p:spPr>
          <a:xfrm>
            <a:off x="548640" y="169164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1" descr="tag.png"/>
          <p:cNvPicPr/>
          <p:nvPr/>
        </p:nvPicPr>
        <p:blipFill>
          <a:blip r:embed="rId2"/>
          <a:stretch/>
        </p:blipFill>
        <p:spPr>
          <a:xfrm>
            <a:off x="822960" y="19980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2"/>
          <p:cNvSpPr/>
          <p:nvPr/>
        </p:nvSpPr>
        <p:spPr>
          <a:xfrm>
            <a:off x="1508760" y="1810440"/>
            <a:ext cx="23770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Атрибуты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3931920" y="1810440"/>
            <a:ext cx="74520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Класса — один на всех, экземпляра — свой у каждого объекта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4"/>
          <p:cNvSpPr/>
          <p:nvPr/>
        </p:nvSpPr>
        <p:spPr>
          <a:xfrm>
            <a:off x="548640" y="290772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2" descr="gear.png"/>
          <p:cNvPicPr/>
          <p:nvPr/>
        </p:nvPicPr>
        <p:blipFill>
          <a:blip r:embed="rId3"/>
          <a:stretch/>
        </p:blipFill>
        <p:spPr>
          <a:xfrm>
            <a:off x="822960" y="321408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5"/>
          <p:cNvSpPr/>
          <p:nvPr/>
        </p:nvSpPr>
        <p:spPr>
          <a:xfrm>
            <a:off x="1508760" y="3026520"/>
            <a:ext cx="23770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Методы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3931920" y="3026520"/>
            <a:ext cx="74520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self — обычный метод, cls — работа с классом, без self/cls — просто утилита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548640" y="412380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3" descr="lock.png"/>
          <p:cNvPicPr/>
          <p:nvPr/>
        </p:nvPicPr>
        <p:blipFill>
          <a:blip r:embed="rId4"/>
          <a:stretch/>
        </p:blipFill>
        <p:spPr>
          <a:xfrm>
            <a:off x="822960" y="443016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8"/>
          <p:cNvSpPr/>
          <p:nvPr/>
        </p:nvSpPr>
        <p:spPr>
          <a:xfrm>
            <a:off x="1508760" y="4242960"/>
            <a:ext cx="23770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Инкапсуляция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3931920" y="4242960"/>
            <a:ext cx="74520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_protected и __private — соглашения и name mangling, а не жёсткий запрет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0"/>
          <p:cNvSpPr/>
          <p:nvPr/>
        </p:nvSpPr>
        <p:spPr>
          <a:xfrm>
            <a:off x="548640" y="5340240"/>
            <a:ext cx="11063880" cy="1051200"/>
          </a:xfrm>
          <a:prstGeom prst="roundRect">
            <a:avLst>
              <a:gd name="adj" fmla="val 8696"/>
            </a:avLst>
          </a:prstGeom>
          <a:solidFill>
            <a:srgbClr val="2D2D42"/>
          </a:solidFill>
          <a:ln w="12700">
            <a:solidFill>
              <a:srgbClr val="3A3A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4" descr="sliders.png"/>
          <p:cNvPicPr/>
          <p:nvPr/>
        </p:nvPicPr>
        <p:blipFill>
          <a:blip r:embed="rId5"/>
          <a:stretch/>
        </p:blipFill>
        <p:spPr>
          <a:xfrm>
            <a:off x="822960" y="5646600"/>
            <a:ext cx="43848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1"/>
          <p:cNvSpPr/>
          <p:nvPr/>
        </p:nvSpPr>
        <p:spPr>
          <a:xfrm>
            <a:off x="1508760" y="5459040"/>
            <a:ext cx="23770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4EC9B0"/>
                </a:solidFill>
                <a:effectLst/>
                <a:uFillTx/>
                <a:latin typeface="Cambria"/>
                <a:ea typeface="Cambria"/>
              </a:rPr>
              <a:t>property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3931920" y="5459040"/>
            <a:ext cx="745200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8F0"/>
                </a:solidFill>
                <a:effectLst/>
                <a:uFillTx/>
                <a:latin typeface="Calibri"/>
                <a:ea typeface="Calibri"/>
              </a:rPr>
              <a:t>Позволяет добавить проверку в атрибут, не меняя внешний код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11551680" y="64465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9AB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2026-09-09T10:26:47Z</dcterms:created>
  <dc:creator>PptxGenJS</dc:creator>
  <dc:description/>
  <dc:language>en-US</dc:language>
  <cp:lastModifiedBy/>
  <dcterms:modified xsi:type="dcterms:W3CDTF">2026-09-12T10:55:52Z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