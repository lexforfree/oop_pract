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ck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B806AAE-8BCB-42EB-98CB-B82D0ED2660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1DEDB5-BF70-40E0-8235-F2B0F56452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4608D8-C872-459B-8A2F-BE9A7A00CEF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EBDCAB-9775-4229-BEA1-DA6936D65F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4BEC1C-6A5F-42B5-82F3-9BFEF651E9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82E4D8-2CE0-40CD-A344-D67CB375FF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6F86D5-09CF-4475-B660-27780BEDCE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F5BA58-ECA8-4534-B7F2-173D2475BD6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61FA72-ABB1-4E7D-A6A7-7846B17284E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2ACDC5-A67C-4299-A032-967E86A5E9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wand.png"/>
          <p:cNvPicPr/>
          <p:nvPr/>
        </p:nvPicPr>
        <p:blipFill>
          <a:blip r:embed="rId1"/>
          <a:stretch/>
        </p:blipFill>
        <p:spPr>
          <a:xfrm>
            <a:off x="567000" y="141732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 0"/>
          <p:cNvSpPr/>
          <p:nvPr/>
        </p:nvSpPr>
        <p:spPr>
          <a:xfrm>
            <a:off x="1188720" y="1536120"/>
            <a:ext cx="6217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4EC9B0"/>
                </a:solidFill>
                <a:effectLst/>
                <a:uFillTx/>
                <a:latin typeface="Calibri"/>
                <a:ea typeface="Calibri"/>
              </a:rPr>
              <a:t>ПРАКТИКА №2 · ООП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548640" y="2331720"/>
            <a:ext cx="64004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4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Магические методы: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даём объектам суперсилы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2"/>
          <p:cNvSpPr/>
          <p:nvPr/>
        </p:nvSpPr>
        <p:spPr>
          <a:xfrm>
            <a:off x="566640" y="4160520"/>
            <a:ext cx="1005840" cy="360"/>
          </a:xfrm>
          <a:prstGeom prst="line">
            <a:avLst/>
          </a:prstGeom>
          <a:ln w="31750">
            <a:solidFill>
              <a:srgbClr val="4EC9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548640" y="4297680"/>
            <a:ext cx="6126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A9AB0"/>
                </a:solidFill>
                <a:effectLst/>
                <a:uFillTx/>
                <a:latin typeface="Calibri"/>
                <a:ea typeface="Calibri"/>
              </a:rPr>
              <a:t>Как объекты учатся печататься, сравниваться, складываться,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A9AB0"/>
                </a:solidFill>
                <a:effectLst/>
                <a:uFillTx/>
                <a:latin typeface="Calibri"/>
                <a:ea typeface="Calibri"/>
              </a:rPr>
              <a:t>вести себя как список и работать в with-блоке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4"/>
          <p:cNvSpPr/>
          <p:nvPr/>
        </p:nvSpPr>
        <p:spPr>
          <a:xfrm>
            <a:off x="7086600" y="1005840"/>
            <a:ext cx="4571640" cy="4845960"/>
          </a:xfrm>
          <a:prstGeom prst="roundRect">
            <a:avLst>
              <a:gd name="adj" fmla="val 2000"/>
            </a:avLst>
          </a:prstGeom>
          <a:solidFill>
            <a:srgbClr val="272736"/>
          </a:solidFill>
          <a:ln w="12700">
            <a:solidFill>
              <a:srgbClr val="3A3A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7086600" y="1005840"/>
            <a:ext cx="4571640" cy="292320"/>
          </a:xfrm>
          <a:prstGeom prst="roundRect">
            <a:avLst>
              <a:gd name="adj" fmla="val 31250"/>
            </a:avLst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6"/>
          <p:cNvSpPr/>
          <p:nvPr/>
        </p:nvSpPr>
        <p:spPr>
          <a:xfrm>
            <a:off x="7086600" y="1152000"/>
            <a:ext cx="4571640" cy="145800"/>
          </a:xfrm>
          <a:prstGeom prst="rect">
            <a:avLst/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7"/>
          <p:cNvSpPr/>
          <p:nvPr/>
        </p:nvSpPr>
        <p:spPr>
          <a:xfrm>
            <a:off x="7214760" y="1115640"/>
            <a:ext cx="72720" cy="7272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8"/>
          <p:cNvSpPr/>
          <p:nvPr/>
        </p:nvSpPr>
        <p:spPr>
          <a:xfrm>
            <a:off x="7397640" y="1115640"/>
            <a:ext cx="72720" cy="7272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9"/>
          <p:cNvSpPr/>
          <p:nvPr/>
        </p:nvSpPr>
        <p:spPr>
          <a:xfrm>
            <a:off x="7580520" y="1115640"/>
            <a:ext cx="72720" cy="7272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7818120" y="100584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ourier New"/>
                <a:ea typeface="Courier New"/>
              </a:rPr>
              <a:t>vector.py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1"/>
          <p:cNvSpPr/>
          <p:nvPr/>
        </p:nvSpPr>
        <p:spPr>
          <a:xfrm>
            <a:off x="7306200" y="1389960"/>
            <a:ext cx="4132800" cy="437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Vector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__init__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, x, y):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.x,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.y = x, 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__add__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, other):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Vector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.x + other.x,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              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.y + other.y)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__repr__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):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f</a:t>
            </a:r>
            <a:r>
              <a:rPr lang="en-US" sz="1200" b="0" u="none" strike="noStrike">
                <a:solidFill>
                  <a:srgbClr val="CE9178"/>
                </a:solidFill>
                <a:effectLst/>
                <a:uFillTx/>
                <a:latin typeface="Courier New"/>
                <a:ea typeface="Courier New"/>
              </a:rPr>
              <a:t>"Vector({self.x}, {self.y})"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v1, v2 = </a:t>
            </a:r>
            <a:r>
              <a:rPr lang="en-US" sz="120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Vector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(1, 2), </a:t>
            </a:r>
            <a:r>
              <a:rPr lang="en-US" sz="120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Vector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(3, 4)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(v1 + v2)  </a:t>
            </a:r>
            <a:r>
              <a:rPr lang="en-US" sz="120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Vector(4, 6)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/>
          <p:cNvSpPr/>
          <p:nvPr/>
        </p:nvSpPr>
        <p:spPr>
          <a:xfrm>
            <a:off x="548640" y="3841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4EC9B0"/>
                </a:solidFill>
                <a:effectLst/>
                <a:uFillTx/>
                <a:latin typeface="Calibri"/>
                <a:ea typeface="Calibri"/>
              </a:rPr>
              <a:t>КОРОТКО ВСПОМНИМ И ЧТО СЕГОДНЯ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548640" y="65844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От property → к настоящей магии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2"/>
          <p:cNvSpPr/>
          <p:nvPr/>
        </p:nvSpPr>
        <p:spPr>
          <a:xfrm>
            <a:off x="548640" y="1783080"/>
            <a:ext cx="5348880" cy="4251600"/>
          </a:xfrm>
          <a:prstGeom prst="roundRect">
            <a:avLst>
              <a:gd name="adj" fmla="val 2581"/>
            </a:avLst>
          </a:prstGeom>
          <a:solidFill>
            <a:srgbClr val="2D2D42"/>
          </a:solidFill>
          <a:ln w="12700">
            <a:solidFill>
              <a:srgbClr val="3A3A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3"/>
          <p:cNvSpPr/>
          <p:nvPr/>
        </p:nvSpPr>
        <p:spPr>
          <a:xfrm>
            <a:off x="868680" y="19659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9A9AB0"/>
                </a:solidFill>
                <a:effectLst/>
                <a:uFillTx/>
                <a:latin typeface="Cambria"/>
                <a:ea typeface="Cambria"/>
              </a:rPr>
              <a:t>Было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4"/>
          <p:cNvSpPr/>
          <p:nvPr/>
        </p:nvSpPr>
        <p:spPr>
          <a:xfrm>
            <a:off x="868680" y="2468880"/>
            <a:ext cx="475452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Атрибуты класса и экземпляра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instance / classmethod / staticmethod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Инкапсуляция, @property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Уже видели __init__, __str__, __lt__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5"/>
          <p:cNvSpPr/>
          <p:nvPr/>
        </p:nvSpPr>
        <p:spPr>
          <a:xfrm>
            <a:off x="6263640" y="1783080"/>
            <a:ext cx="5348880" cy="4251600"/>
          </a:xfrm>
          <a:prstGeom prst="roundRect">
            <a:avLst>
              <a:gd name="adj" fmla="val 2581"/>
            </a:avLst>
          </a:prstGeom>
          <a:solidFill>
            <a:srgbClr val="2D2D42"/>
          </a:solidFill>
          <a:ln w="15875">
            <a:solidFill>
              <a:srgbClr val="4EC9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6583680" y="19659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4EC9B0"/>
                </a:solidFill>
                <a:effectLst/>
                <a:uFillTx/>
                <a:latin typeface="Cambria"/>
                <a:ea typeface="Cambria"/>
              </a:rPr>
              <a:t>Сегодня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7"/>
          <p:cNvSpPr/>
          <p:nvPr/>
        </p:nvSpPr>
        <p:spPr>
          <a:xfrm>
            <a:off x="6583680" y="2468880"/>
            <a:ext cx="475452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__str__ vs __repr__ — в чём разница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Сравнения: __eq__, __lt__ и total_ordering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Арифметика: __add__, __mul__ и другие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Контейнеры: __len__, __getitem__, __contains__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Итераторы: __iter__ / __next__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__call__ и контекстные менеджеры (with)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8"/>
          <p:cNvSpPr/>
          <p:nvPr/>
        </p:nvSpPr>
        <p:spPr>
          <a:xfrm>
            <a:off x="11551680" y="6446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/>
          <p:cNvSpPr/>
          <p:nvPr/>
        </p:nvSpPr>
        <p:spPr>
          <a:xfrm>
            <a:off x="548640" y="3841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4EC9B0"/>
                </a:solidFill>
                <a:effectLst/>
                <a:uFillTx/>
                <a:latin typeface="Calibri"/>
                <a:ea typeface="Calibri"/>
              </a:rPr>
              <a:t>ДВА СПОСОБА ПРЕДСТАВИТЬ ОБЪЕКТ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"/>
          <p:cNvSpPr/>
          <p:nvPr/>
        </p:nvSpPr>
        <p:spPr>
          <a:xfrm>
            <a:off x="548640" y="65844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__str__ и __repr__ — не одно и то же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"/>
          <p:cNvSpPr/>
          <p:nvPr/>
        </p:nvSpPr>
        <p:spPr>
          <a:xfrm>
            <a:off x="548640" y="1691640"/>
            <a:ext cx="6309000" cy="4434480"/>
          </a:xfrm>
          <a:prstGeom prst="roundRect">
            <a:avLst>
              <a:gd name="adj" fmla="val 2062"/>
            </a:avLst>
          </a:prstGeom>
          <a:solidFill>
            <a:srgbClr val="272736"/>
          </a:solidFill>
          <a:ln w="12700">
            <a:solidFill>
              <a:srgbClr val="3A3A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3"/>
          <p:cNvSpPr/>
          <p:nvPr/>
        </p:nvSpPr>
        <p:spPr>
          <a:xfrm>
            <a:off x="548640" y="1691640"/>
            <a:ext cx="6309000" cy="292320"/>
          </a:xfrm>
          <a:prstGeom prst="roundRect">
            <a:avLst>
              <a:gd name="adj" fmla="val 31250"/>
            </a:avLst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4"/>
          <p:cNvSpPr/>
          <p:nvPr/>
        </p:nvSpPr>
        <p:spPr>
          <a:xfrm>
            <a:off x="548640" y="1837800"/>
            <a:ext cx="6309000" cy="145800"/>
          </a:xfrm>
          <a:prstGeom prst="rect">
            <a:avLst/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5"/>
          <p:cNvSpPr/>
          <p:nvPr/>
        </p:nvSpPr>
        <p:spPr>
          <a:xfrm>
            <a:off x="676800" y="1801440"/>
            <a:ext cx="72720" cy="7272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6"/>
          <p:cNvSpPr/>
          <p:nvPr/>
        </p:nvSpPr>
        <p:spPr>
          <a:xfrm>
            <a:off x="859680" y="1801440"/>
            <a:ext cx="72720" cy="7272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7"/>
          <p:cNvSpPr/>
          <p:nvPr/>
        </p:nvSpPr>
        <p:spPr>
          <a:xfrm>
            <a:off x="1042560" y="1801440"/>
            <a:ext cx="72720" cy="7272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8"/>
          <p:cNvSpPr/>
          <p:nvPr/>
        </p:nvSpPr>
        <p:spPr>
          <a:xfrm>
            <a:off x="1280160" y="1691640"/>
            <a:ext cx="5394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ourier New"/>
                <a:ea typeface="Courier New"/>
              </a:rPr>
              <a:t>point.py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9"/>
          <p:cNvSpPr/>
          <p:nvPr/>
        </p:nvSpPr>
        <p:spPr>
          <a:xfrm>
            <a:off x="768240" y="2075760"/>
            <a:ext cx="5870160" cy="39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Point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__init__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, x, y):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.x,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.y = x, 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__str__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):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f</a:t>
            </a:r>
            <a:r>
              <a:rPr lang="en-US" sz="1200" b="0" u="none" strike="noStrike">
                <a:solidFill>
                  <a:srgbClr val="CE9178"/>
                </a:solidFill>
                <a:effectLst/>
                <a:uFillTx/>
                <a:latin typeface="Courier New"/>
                <a:ea typeface="Courier New"/>
              </a:rPr>
              <a:t>"({self.x}, {self.y})"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__repr__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):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f</a:t>
            </a:r>
            <a:r>
              <a:rPr lang="en-US" sz="1200" b="0" u="none" strike="noStrike">
                <a:solidFill>
                  <a:srgbClr val="CE9178"/>
                </a:solidFill>
                <a:effectLst/>
                <a:uFillTx/>
                <a:latin typeface="Courier New"/>
                <a:ea typeface="Courier New"/>
              </a:rPr>
              <a:t>"Point(x={self.x}, y={self.y})"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p = </a:t>
            </a:r>
            <a:r>
              <a:rPr lang="en-US" sz="120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Point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(1, 2)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(p)          </a:t>
            </a:r>
            <a:r>
              <a:rPr lang="en-US" sz="120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(1, 2)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(str(p))     </a:t>
            </a:r>
            <a:r>
              <a:rPr lang="en-US" sz="120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то же самое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(repr(p))    </a:t>
            </a:r>
            <a:r>
              <a:rPr lang="en-US" sz="120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Point(x=1, y=2)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p                 </a:t>
            </a:r>
            <a:r>
              <a:rPr lang="en-US" sz="120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в консоли — тоже __repr__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0"/>
          <p:cNvSpPr/>
          <p:nvPr/>
        </p:nvSpPr>
        <p:spPr>
          <a:xfrm>
            <a:off x="7178040" y="1783080"/>
            <a:ext cx="448020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__str__ — для человека: print(), str() — красиво и понятно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__repr__ — для разработчика: отладка, логи, консоль — точно и однозначно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Если __str__ не определён, Python использует __repr__ как запасной вариант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Хорошее правило: __repr__ пишите почти всегда, __str__ — когда нужен красивый вывод для пользователя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1"/>
          <p:cNvSpPr/>
          <p:nvPr/>
        </p:nvSpPr>
        <p:spPr>
          <a:xfrm>
            <a:off x="11551680" y="6446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548640" y="3841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4EC9B0"/>
                </a:solidFill>
                <a:effectLst/>
                <a:uFillTx/>
                <a:latin typeface="Calibri"/>
                <a:ea typeface="Calibri"/>
              </a:rPr>
              <a:t>УЧИМ ОБЪЕКТЫ СРАВНИВАТЬСЯ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548640" y="65844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__eq__, __lt__ и функция total_ordering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548640" y="1691640"/>
            <a:ext cx="6309000" cy="4434480"/>
          </a:xfrm>
          <a:prstGeom prst="roundRect">
            <a:avLst>
              <a:gd name="adj" fmla="val 2062"/>
            </a:avLst>
          </a:prstGeom>
          <a:solidFill>
            <a:srgbClr val="272736"/>
          </a:solidFill>
          <a:ln w="12700">
            <a:solidFill>
              <a:srgbClr val="3A3A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548640" y="1691640"/>
            <a:ext cx="6309000" cy="292320"/>
          </a:xfrm>
          <a:prstGeom prst="roundRect">
            <a:avLst>
              <a:gd name="adj" fmla="val 31250"/>
            </a:avLst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548640" y="1837800"/>
            <a:ext cx="6309000" cy="145800"/>
          </a:xfrm>
          <a:prstGeom prst="rect">
            <a:avLst/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676800" y="1801440"/>
            <a:ext cx="72720" cy="7272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859680" y="1801440"/>
            <a:ext cx="72720" cy="7272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1042560" y="1801440"/>
            <a:ext cx="72720" cy="7272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1280160" y="1691640"/>
            <a:ext cx="5394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ourier New"/>
                <a:ea typeface="Courier New"/>
              </a:rPr>
              <a:t>money.py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9"/>
          <p:cNvSpPr/>
          <p:nvPr/>
        </p:nvSpPr>
        <p:spPr>
          <a:xfrm>
            <a:off x="768240" y="2075760"/>
            <a:ext cx="5870160" cy="39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from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functools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total_ordering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@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total_ordering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Money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__init__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, amount):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.amount = amount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__eq__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, other):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.amount == other.amount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__lt__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, other):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.amount &lt; other.amount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m1, m2 = </a:t>
            </a:r>
            <a:r>
              <a:rPr lang="en-US" sz="115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Money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(100), </a:t>
            </a:r>
            <a:r>
              <a:rPr lang="en-US" sz="115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Money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(200)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(m1 &lt; m2)   </a:t>
            </a:r>
            <a:r>
              <a:rPr lang="en-US" sz="115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True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(m1 &gt;= m2)  </a:t>
            </a:r>
            <a:r>
              <a:rPr lang="en-US" sz="115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False — total_ordering достроил сам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7178040" y="1783080"/>
            <a:ext cx="448020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Python не выводит __gt__ из __lt__ автоматически — их нужно писать самим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@total_ordering из functools — пишете __eq__ и один из __lt__/__le__/__gt__/__ge__, остальное достроится само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Без __eq__ сравнение объектов по умолчанию — это сравнение по адресу в памяти (is), а не по значению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11551680" y="6446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548640" y="3841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4EC9B0"/>
                </a:solidFill>
                <a:effectLst/>
                <a:uFillTx/>
                <a:latin typeface="Calibri"/>
                <a:ea typeface="Calibri"/>
              </a:rPr>
              <a:t>ОБЪЕКТЫ, КОТОРЫЕ УМЕЮТ СЧИТАТЬ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548640" y="65844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Арифметика: __add__, __mul__ и соседи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548640" y="1691640"/>
            <a:ext cx="6309000" cy="4434480"/>
          </a:xfrm>
          <a:prstGeom prst="roundRect">
            <a:avLst>
              <a:gd name="adj" fmla="val 2062"/>
            </a:avLst>
          </a:prstGeom>
          <a:solidFill>
            <a:srgbClr val="272736"/>
          </a:solidFill>
          <a:ln w="12700">
            <a:solidFill>
              <a:srgbClr val="3A3A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548640" y="1691640"/>
            <a:ext cx="6309000" cy="292320"/>
          </a:xfrm>
          <a:prstGeom prst="roundRect">
            <a:avLst>
              <a:gd name="adj" fmla="val 31250"/>
            </a:avLst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4"/>
          <p:cNvSpPr/>
          <p:nvPr/>
        </p:nvSpPr>
        <p:spPr>
          <a:xfrm>
            <a:off x="548640" y="1837800"/>
            <a:ext cx="6309000" cy="145800"/>
          </a:xfrm>
          <a:prstGeom prst="rect">
            <a:avLst/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5"/>
          <p:cNvSpPr/>
          <p:nvPr/>
        </p:nvSpPr>
        <p:spPr>
          <a:xfrm>
            <a:off x="676800" y="1801440"/>
            <a:ext cx="72720" cy="7272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6"/>
          <p:cNvSpPr/>
          <p:nvPr/>
        </p:nvSpPr>
        <p:spPr>
          <a:xfrm>
            <a:off x="859680" y="1801440"/>
            <a:ext cx="72720" cy="7272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7"/>
          <p:cNvSpPr/>
          <p:nvPr/>
        </p:nvSpPr>
        <p:spPr>
          <a:xfrm>
            <a:off x="1042560" y="1801440"/>
            <a:ext cx="72720" cy="7272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8"/>
          <p:cNvSpPr/>
          <p:nvPr/>
        </p:nvSpPr>
        <p:spPr>
          <a:xfrm>
            <a:off x="1280160" y="1691640"/>
            <a:ext cx="5394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ourier New"/>
                <a:ea typeface="Courier New"/>
              </a:rPr>
              <a:t>vector.py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9"/>
          <p:cNvSpPr/>
          <p:nvPr/>
        </p:nvSpPr>
        <p:spPr>
          <a:xfrm>
            <a:off x="768240" y="2075760"/>
            <a:ext cx="5870160" cy="39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Vector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__init__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, x, y):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.x,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.y = x, y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__add__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, other):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Vector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.x + other.x,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           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.y + other.y)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__mul__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, k):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Vector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.x * k,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.y * k)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__repr__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):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f</a:t>
            </a:r>
            <a:r>
              <a:rPr lang="en-US" sz="1150" b="0" u="none" strike="noStrike">
                <a:solidFill>
                  <a:srgbClr val="CE9178"/>
                </a:solidFill>
                <a:effectLst/>
                <a:uFillTx/>
                <a:latin typeface="Courier New"/>
                <a:ea typeface="Courier New"/>
              </a:rPr>
              <a:t>"Vector({self.x}, {self.y})"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v = </a:t>
            </a:r>
            <a:r>
              <a:rPr lang="en-US" sz="115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Vector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(1, 2) + </a:t>
            </a:r>
            <a:r>
              <a:rPr lang="en-US" sz="115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Vector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(3, 4)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(v)          </a:t>
            </a:r>
            <a:r>
              <a:rPr lang="en-US" sz="115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Vector(4, 6)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(v * 2)      </a:t>
            </a:r>
            <a:r>
              <a:rPr lang="en-US" sz="115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Vector(8, 12)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7178040" y="1783080"/>
            <a:ext cx="448020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__add__ вызывается для оператора +, __mul__ — для *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Есть и другие: __sub__ (-), __truediv__ (/), __neg__ (унарный минус)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Если слева стоит не ваш объект (2 * v) — Python попробует __rmul__ у правого операнда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Так реализованы, например, сложение матриц в NumPy или дат в datetime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1"/>
          <p:cNvSpPr/>
          <p:nvPr/>
        </p:nvSpPr>
        <p:spPr>
          <a:xfrm>
            <a:off x="11551680" y="6446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548640" y="3841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4EC9B0"/>
                </a:solidFill>
                <a:effectLst/>
                <a:uFillTx/>
                <a:latin typeface="Calibri"/>
                <a:ea typeface="Calibri"/>
              </a:rPr>
              <a:t>ВЕДЁМ СЕБЯ КАК СПИСОК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548640" y="65844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__len__, __getitem__, __contains__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"/>
          <p:cNvSpPr/>
          <p:nvPr/>
        </p:nvSpPr>
        <p:spPr>
          <a:xfrm>
            <a:off x="548640" y="1691640"/>
            <a:ext cx="6309000" cy="4434480"/>
          </a:xfrm>
          <a:prstGeom prst="roundRect">
            <a:avLst>
              <a:gd name="adj" fmla="val 2062"/>
            </a:avLst>
          </a:prstGeom>
          <a:solidFill>
            <a:srgbClr val="272736"/>
          </a:solidFill>
          <a:ln w="12700">
            <a:solidFill>
              <a:srgbClr val="3A3A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3"/>
          <p:cNvSpPr/>
          <p:nvPr/>
        </p:nvSpPr>
        <p:spPr>
          <a:xfrm>
            <a:off x="548640" y="1691640"/>
            <a:ext cx="6309000" cy="292320"/>
          </a:xfrm>
          <a:prstGeom prst="roundRect">
            <a:avLst>
              <a:gd name="adj" fmla="val 31250"/>
            </a:avLst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4"/>
          <p:cNvSpPr/>
          <p:nvPr/>
        </p:nvSpPr>
        <p:spPr>
          <a:xfrm>
            <a:off x="548640" y="1837800"/>
            <a:ext cx="6309000" cy="145800"/>
          </a:xfrm>
          <a:prstGeom prst="rect">
            <a:avLst/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5"/>
          <p:cNvSpPr/>
          <p:nvPr/>
        </p:nvSpPr>
        <p:spPr>
          <a:xfrm>
            <a:off x="676800" y="1801440"/>
            <a:ext cx="72720" cy="7272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6"/>
          <p:cNvSpPr/>
          <p:nvPr/>
        </p:nvSpPr>
        <p:spPr>
          <a:xfrm>
            <a:off x="859680" y="1801440"/>
            <a:ext cx="72720" cy="7272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7"/>
          <p:cNvSpPr/>
          <p:nvPr/>
        </p:nvSpPr>
        <p:spPr>
          <a:xfrm>
            <a:off x="1042560" y="1801440"/>
            <a:ext cx="72720" cy="7272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8"/>
          <p:cNvSpPr/>
          <p:nvPr/>
        </p:nvSpPr>
        <p:spPr>
          <a:xfrm>
            <a:off x="1280160" y="1691640"/>
            <a:ext cx="5394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ourier New"/>
                <a:ea typeface="Courier New"/>
              </a:rPr>
              <a:t>playlist.py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9"/>
          <p:cNvSpPr/>
          <p:nvPr/>
        </p:nvSpPr>
        <p:spPr>
          <a:xfrm>
            <a:off x="768240" y="2075760"/>
            <a:ext cx="5870160" cy="39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Playlist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__init__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, songs):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.songs = songs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__len__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):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len(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.songs)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__getitem__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, index):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.songs[index]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__contains__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, song):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song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in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.songs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pl = </a:t>
            </a:r>
            <a:r>
              <a:rPr lang="en-US" sz="115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Playlist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([</a:t>
            </a:r>
            <a:r>
              <a:rPr lang="en-US" sz="1150" b="0" u="none" strike="noStrike">
                <a:solidFill>
                  <a:srgbClr val="CE9178"/>
                </a:solidFill>
                <a:effectLst/>
                <a:uFillTx/>
                <a:latin typeface="Courier New"/>
                <a:ea typeface="Courier New"/>
              </a:rPr>
              <a:t>"A"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150" b="0" u="none" strike="noStrike">
                <a:solidFill>
                  <a:srgbClr val="CE9178"/>
                </a:solidFill>
                <a:effectLst/>
                <a:uFillTx/>
                <a:latin typeface="Courier New"/>
                <a:ea typeface="Courier New"/>
              </a:rPr>
              <a:t>"B"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150" b="0" u="none" strike="noStrike">
                <a:solidFill>
                  <a:srgbClr val="CE9178"/>
                </a:solidFill>
                <a:effectLst/>
                <a:uFillTx/>
                <a:latin typeface="Courier New"/>
                <a:ea typeface="Courier New"/>
              </a:rPr>
              <a:t>"C"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])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(len(pl))          </a:t>
            </a:r>
            <a:r>
              <a:rPr lang="en-US" sz="115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3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(pl[1])            </a:t>
            </a:r>
            <a:r>
              <a:rPr lang="en-US" sz="115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B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CE9178"/>
                </a:solidFill>
                <a:effectLst/>
                <a:uFillTx/>
                <a:latin typeface="Courier New"/>
                <a:ea typeface="Courier New"/>
              </a:rPr>
              <a:t>"A"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in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pl)        </a:t>
            </a:r>
            <a:r>
              <a:rPr lang="en-US" sz="115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True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0"/>
          <p:cNvSpPr/>
          <p:nvPr/>
        </p:nvSpPr>
        <p:spPr>
          <a:xfrm>
            <a:off x="7178040" y="1783080"/>
            <a:ext cx="448020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__len__ включает объект в работу с len()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__getitem__ позволяет использовать pl[i] — и даже автоматически работает for в цикле, если нет __iter__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__contains__ — то, что стоит за оператором in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Так в реальности устроены многие структуры данных в библиотеках — снаружи выглядит как список, а внутри своя логика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1"/>
          <p:cNvSpPr/>
          <p:nvPr/>
        </p:nvSpPr>
        <p:spPr>
          <a:xfrm>
            <a:off x="11551680" y="6446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/>
          <p:nvPr/>
        </p:nvSpPr>
        <p:spPr>
          <a:xfrm>
            <a:off x="548640" y="3841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4EC9B0"/>
                </a:solidFill>
                <a:effectLst/>
                <a:uFillTx/>
                <a:latin typeface="Calibri"/>
                <a:ea typeface="Calibri"/>
              </a:rPr>
              <a:t>СОБСТВЕННЫЙ FOR-ЦИКЛ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548640" y="65844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__iter__ и __next__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"/>
          <p:cNvSpPr/>
          <p:nvPr/>
        </p:nvSpPr>
        <p:spPr>
          <a:xfrm>
            <a:off x="548640" y="1691640"/>
            <a:ext cx="6309000" cy="4434480"/>
          </a:xfrm>
          <a:prstGeom prst="roundRect">
            <a:avLst>
              <a:gd name="adj" fmla="val 2062"/>
            </a:avLst>
          </a:prstGeom>
          <a:solidFill>
            <a:srgbClr val="272736"/>
          </a:solidFill>
          <a:ln w="12700">
            <a:solidFill>
              <a:srgbClr val="3A3A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3"/>
          <p:cNvSpPr/>
          <p:nvPr/>
        </p:nvSpPr>
        <p:spPr>
          <a:xfrm>
            <a:off x="548640" y="1691640"/>
            <a:ext cx="6309000" cy="292320"/>
          </a:xfrm>
          <a:prstGeom prst="roundRect">
            <a:avLst>
              <a:gd name="adj" fmla="val 31250"/>
            </a:avLst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4"/>
          <p:cNvSpPr/>
          <p:nvPr/>
        </p:nvSpPr>
        <p:spPr>
          <a:xfrm>
            <a:off x="548640" y="1837800"/>
            <a:ext cx="6309000" cy="145800"/>
          </a:xfrm>
          <a:prstGeom prst="rect">
            <a:avLst/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5"/>
          <p:cNvSpPr/>
          <p:nvPr/>
        </p:nvSpPr>
        <p:spPr>
          <a:xfrm>
            <a:off x="676800" y="1801440"/>
            <a:ext cx="72720" cy="7272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6"/>
          <p:cNvSpPr/>
          <p:nvPr/>
        </p:nvSpPr>
        <p:spPr>
          <a:xfrm>
            <a:off x="859680" y="1801440"/>
            <a:ext cx="72720" cy="7272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7"/>
          <p:cNvSpPr/>
          <p:nvPr/>
        </p:nvSpPr>
        <p:spPr>
          <a:xfrm>
            <a:off x="1042560" y="1801440"/>
            <a:ext cx="72720" cy="7272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8"/>
          <p:cNvSpPr/>
          <p:nvPr/>
        </p:nvSpPr>
        <p:spPr>
          <a:xfrm>
            <a:off x="1280160" y="1691640"/>
            <a:ext cx="5394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ourier New"/>
                <a:ea typeface="Courier New"/>
              </a:rPr>
              <a:t>countdown.py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9"/>
          <p:cNvSpPr/>
          <p:nvPr/>
        </p:nvSpPr>
        <p:spPr>
          <a:xfrm>
            <a:off x="768240" y="2075760"/>
            <a:ext cx="5870160" cy="39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Countdown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__init__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, start):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.current = start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__iter__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):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__next__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):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.current &lt; 0: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raise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StopIteration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value =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.current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.current -= 1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value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n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in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Countdown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(3):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(n)   </a:t>
            </a:r>
            <a:r>
              <a:rPr lang="en-US" sz="115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3 2 1 0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0"/>
          <p:cNvSpPr/>
          <p:nvPr/>
        </p:nvSpPr>
        <p:spPr>
          <a:xfrm>
            <a:off x="7178040" y="1783080"/>
            <a:ext cx="448020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__iter__ должен вернуть объект-итератор (часто — сам себя, self)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__next__ отдаёт следующее значение и обязан поднять StopIteration, когда значения кончились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Именно так под капотом работает for в Python — он просто раз за разом дёргает __next__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Это база, на которой построены генераторы (о них — отдельный разговор в будущем)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1"/>
          <p:cNvSpPr/>
          <p:nvPr/>
        </p:nvSpPr>
        <p:spPr>
          <a:xfrm>
            <a:off x="11551680" y="6446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/>
          <p:nvPr/>
        </p:nvSpPr>
        <p:spPr>
          <a:xfrm>
            <a:off x="548640" y="3841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4EC9B0"/>
                </a:solidFill>
                <a:effectLst/>
                <a:uFillTx/>
                <a:latin typeface="Calibri"/>
                <a:ea typeface="Calibri"/>
              </a:rPr>
              <a:t>ЕЩЁ ДВА ФОКУСА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548640" y="65844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__call__ и with-блоки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"/>
          <p:cNvSpPr/>
          <p:nvPr/>
        </p:nvSpPr>
        <p:spPr>
          <a:xfrm>
            <a:off x="548640" y="1600200"/>
            <a:ext cx="5440320" cy="4434480"/>
          </a:xfrm>
          <a:prstGeom prst="roundRect">
            <a:avLst>
              <a:gd name="adj" fmla="val 2062"/>
            </a:avLst>
          </a:prstGeom>
          <a:solidFill>
            <a:srgbClr val="272736"/>
          </a:solidFill>
          <a:ln w="12700">
            <a:solidFill>
              <a:srgbClr val="3A3A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3"/>
          <p:cNvSpPr/>
          <p:nvPr/>
        </p:nvSpPr>
        <p:spPr>
          <a:xfrm>
            <a:off x="548640" y="1600200"/>
            <a:ext cx="5440320" cy="292320"/>
          </a:xfrm>
          <a:prstGeom prst="roundRect">
            <a:avLst>
              <a:gd name="adj" fmla="val 31250"/>
            </a:avLst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4"/>
          <p:cNvSpPr/>
          <p:nvPr/>
        </p:nvSpPr>
        <p:spPr>
          <a:xfrm>
            <a:off x="548640" y="1746360"/>
            <a:ext cx="5440320" cy="145800"/>
          </a:xfrm>
          <a:prstGeom prst="rect">
            <a:avLst/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5"/>
          <p:cNvSpPr/>
          <p:nvPr/>
        </p:nvSpPr>
        <p:spPr>
          <a:xfrm>
            <a:off x="676800" y="1710000"/>
            <a:ext cx="72720" cy="7272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6"/>
          <p:cNvSpPr/>
          <p:nvPr/>
        </p:nvSpPr>
        <p:spPr>
          <a:xfrm>
            <a:off x="859680" y="1710000"/>
            <a:ext cx="72720" cy="7272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7"/>
          <p:cNvSpPr/>
          <p:nvPr/>
        </p:nvSpPr>
        <p:spPr>
          <a:xfrm>
            <a:off x="1042560" y="1710000"/>
            <a:ext cx="72720" cy="7272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1280160" y="1600200"/>
            <a:ext cx="4525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ourier New"/>
                <a:ea typeface="Courier New"/>
              </a:rPr>
              <a:t>multiplier.py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9"/>
          <p:cNvSpPr/>
          <p:nvPr/>
        </p:nvSpPr>
        <p:spPr>
          <a:xfrm>
            <a:off x="768240" y="1984320"/>
            <a:ext cx="5001480" cy="39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Multiplier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__init__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, factor):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.factor = factor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__call__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, x):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x *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.factor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double = </a:t>
            </a:r>
            <a:r>
              <a:rPr lang="en-US" sz="115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Multiplier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(2)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(double(21))   </a:t>
            </a:r>
            <a:r>
              <a:rPr lang="en-US" sz="115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42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объект вызывается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прямо как функция!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0"/>
          <p:cNvSpPr/>
          <p:nvPr/>
        </p:nvSpPr>
        <p:spPr>
          <a:xfrm>
            <a:off x="6217920" y="1600200"/>
            <a:ext cx="5440320" cy="4434480"/>
          </a:xfrm>
          <a:prstGeom prst="roundRect">
            <a:avLst>
              <a:gd name="adj" fmla="val 2062"/>
            </a:avLst>
          </a:prstGeom>
          <a:solidFill>
            <a:srgbClr val="272736"/>
          </a:solidFill>
          <a:ln w="12700">
            <a:solidFill>
              <a:srgbClr val="3A3A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1"/>
          <p:cNvSpPr/>
          <p:nvPr/>
        </p:nvSpPr>
        <p:spPr>
          <a:xfrm>
            <a:off x="6217920" y="1600200"/>
            <a:ext cx="5440320" cy="292320"/>
          </a:xfrm>
          <a:prstGeom prst="roundRect">
            <a:avLst>
              <a:gd name="adj" fmla="val 31250"/>
            </a:avLst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2"/>
          <p:cNvSpPr/>
          <p:nvPr/>
        </p:nvSpPr>
        <p:spPr>
          <a:xfrm>
            <a:off x="6217920" y="1746360"/>
            <a:ext cx="5440320" cy="145800"/>
          </a:xfrm>
          <a:prstGeom prst="rect">
            <a:avLst/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3"/>
          <p:cNvSpPr/>
          <p:nvPr/>
        </p:nvSpPr>
        <p:spPr>
          <a:xfrm>
            <a:off x="6346080" y="1710000"/>
            <a:ext cx="72720" cy="7272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4"/>
          <p:cNvSpPr/>
          <p:nvPr/>
        </p:nvSpPr>
        <p:spPr>
          <a:xfrm>
            <a:off x="6528960" y="1710000"/>
            <a:ext cx="72720" cy="7272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5"/>
          <p:cNvSpPr/>
          <p:nvPr/>
        </p:nvSpPr>
        <p:spPr>
          <a:xfrm>
            <a:off x="6711840" y="1710000"/>
            <a:ext cx="72720" cy="7272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6"/>
          <p:cNvSpPr/>
          <p:nvPr/>
        </p:nvSpPr>
        <p:spPr>
          <a:xfrm>
            <a:off x="6949440" y="1600200"/>
            <a:ext cx="4525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ourier New"/>
                <a:ea typeface="Courier New"/>
              </a:rPr>
              <a:t>timer.py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7"/>
          <p:cNvSpPr/>
          <p:nvPr/>
        </p:nvSpPr>
        <p:spPr>
          <a:xfrm>
            <a:off x="6437520" y="1984320"/>
            <a:ext cx="5001480" cy="39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Timer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__enter__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):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CE9178"/>
                </a:solidFill>
                <a:effectLst/>
                <a:uFillTx/>
                <a:latin typeface="Courier New"/>
                <a:ea typeface="Courier New"/>
              </a:rPr>
              <a:t>"Начали"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__exit__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, *args):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CE9178"/>
                </a:solidFill>
                <a:effectLst/>
                <a:uFillTx/>
                <a:latin typeface="Courier New"/>
                <a:ea typeface="Courier New"/>
              </a:rPr>
              <a:t>"Закончили"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with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Timer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():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CE9178"/>
                </a:solidFill>
                <a:effectLst/>
                <a:uFillTx/>
                <a:latin typeface="Courier New"/>
                <a:ea typeface="Courier New"/>
              </a:rPr>
              <a:t>"Работаем..."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Начали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Работаем...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Закончили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8"/>
          <p:cNvSpPr/>
          <p:nvPr/>
        </p:nvSpPr>
        <p:spPr>
          <a:xfrm>
            <a:off x="11551680" y="6446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Image 0" descr="rocket.png"/>
          <p:cNvPicPr/>
          <p:nvPr/>
        </p:nvPicPr>
        <p:blipFill>
          <a:blip r:embed="rId1"/>
          <a:stretch/>
        </p:blipFill>
        <p:spPr>
          <a:xfrm>
            <a:off x="594360" y="640080"/>
            <a:ext cx="594000" cy="59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0"/>
          <p:cNvSpPr/>
          <p:nvPr/>
        </p:nvSpPr>
        <p:spPr>
          <a:xfrm>
            <a:off x="1325880" y="65844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Итоги и переход к практике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"/>
          <p:cNvSpPr/>
          <p:nvPr/>
        </p:nvSpPr>
        <p:spPr>
          <a:xfrm>
            <a:off x="548640" y="1645920"/>
            <a:ext cx="11063880" cy="895680"/>
          </a:xfrm>
          <a:prstGeom prst="roundRect">
            <a:avLst>
              <a:gd name="adj" fmla="val 10204"/>
            </a:avLst>
          </a:prstGeom>
          <a:solidFill>
            <a:srgbClr val="2D2D42"/>
          </a:solidFill>
          <a:ln w="12700">
            <a:solidFill>
              <a:srgbClr val="3A3A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4" name="Image 1" descr="eye.png"/>
          <p:cNvPicPr/>
          <p:nvPr/>
        </p:nvPicPr>
        <p:blipFill>
          <a:blip r:embed="rId2"/>
          <a:stretch/>
        </p:blipFill>
        <p:spPr>
          <a:xfrm>
            <a:off x="822960" y="190188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 2"/>
          <p:cNvSpPr/>
          <p:nvPr/>
        </p:nvSpPr>
        <p:spPr>
          <a:xfrm>
            <a:off x="1463040" y="1737360"/>
            <a:ext cx="28342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4EC9B0"/>
                </a:solidFill>
                <a:effectLst/>
                <a:uFillTx/>
                <a:latin typeface="Cambria"/>
                <a:ea typeface="Cambria"/>
              </a:rPr>
              <a:t>__str__ / __repr__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4434840" y="1737360"/>
            <a:ext cx="69490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Красивый вывод для человека и точное представление для разработчика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4"/>
          <p:cNvSpPr/>
          <p:nvPr/>
        </p:nvSpPr>
        <p:spPr>
          <a:xfrm>
            <a:off x="548640" y="2679120"/>
            <a:ext cx="11063880" cy="895680"/>
          </a:xfrm>
          <a:prstGeom prst="roundRect">
            <a:avLst>
              <a:gd name="adj" fmla="val 10204"/>
            </a:avLst>
          </a:prstGeom>
          <a:solidFill>
            <a:srgbClr val="2D2D42"/>
          </a:solidFill>
          <a:ln w="12700">
            <a:solidFill>
              <a:srgbClr val="3A3A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8" name="Image 2" descr="scale.png"/>
          <p:cNvPicPr/>
          <p:nvPr/>
        </p:nvPicPr>
        <p:blipFill>
          <a:blip r:embed="rId3"/>
          <a:stretch/>
        </p:blipFill>
        <p:spPr>
          <a:xfrm>
            <a:off x="822960" y="293508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ext 5"/>
          <p:cNvSpPr/>
          <p:nvPr/>
        </p:nvSpPr>
        <p:spPr>
          <a:xfrm>
            <a:off x="1463040" y="2770560"/>
            <a:ext cx="28342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4EC9B0"/>
                </a:solidFill>
                <a:effectLst/>
                <a:uFillTx/>
                <a:latin typeface="Cambria"/>
                <a:ea typeface="Cambria"/>
              </a:rPr>
              <a:t>Сравнения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6"/>
          <p:cNvSpPr/>
          <p:nvPr/>
        </p:nvSpPr>
        <p:spPr>
          <a:xfrm>
            <a:off x="4434840" y="2770560"/>
            <a:ext cx="69490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__eq__, __lt__ + @total_ordering достраивает остальные операторы сам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7"/>
          <p:cNvSpPr/>
          <p:nvPr/>
        </p:nvSpPr>
        <p:spPr>
          <a:xfrm>
            <a:off x="548640" y="3712320"/>
            <a:ext cx="11063880" cy="895680"/>
          </a:xfrm>
          <a:prstGeom prst="roundRect">
            <a:avLst>
              <a:gd name="adj" fmla="val 10204"/>
            </a:avLst>
          </a:prstGeom>
          <a:solidFill>
            <a:srgbClr val="2D2D42"/>
          </a:solidFill>
          <a:ln w="12700">
            <a:solidFill>
              <a:srgbClr val="3A3A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2" name="Image 3" descr="calc.png"/>
          <p:cNvPicPr/>
          <p:nvPr/>
        </p:nvPicPr>
        <p:blipFill>
          <a:blip r:embed="rId4"/>
          <a:stretch/>
        </p:blipFill>
        <p:spPr>
          <a:xfrm>
            <a:off x="822960" y="39686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ext 8"/>
          <p:cNvSpPr/>
          <p:nvPr/>
        </p:nvSpPr>
        <p:spPr>
          <a:xfrm>
            <a:off x="1463040" y="3803760"/>
            <a:ext cx="28342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4EC9B0"/>
                </a:solidFill>
                <a:effectLst/>
                <a:uFillTx/>
                <a:latin typeface="Cambria"/>
                <a:ea typeface="Cambria"/>
              </a:rPr>
              <a:t>Арифметика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9"/>
          <p:cNvSpPr/>
          <p:nvPr/>
        </p:nvSpPr>
        <p:spPr>
          <a:xfrm>
            <a:off x="4434840" y="3803760"/>
            <a:ext cx="69490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__add__, __mul__ и другие — объекты, которые умеют считать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0"/>
          <p:cNvSpPr/>
          <p:nvPr/>
        </p:nvSpPr>
        <p:spPr>
          <a:xfrm>
            <a:off x="548640" y="4745880"/>
            <a:ext cx="11063880" cy="895680"/>
          </a:xfrm>
          <a:prstGeom prst="roundRect">
            <a:avLst>
              <a:gd name="adj" fmla="val 10204"/>
            </a:avLst>
          </a:prstGeom>
          <a:solidFill>
            <a:srgbClr val="2D2D42"/>
          </a:solidFill>
          <a:ln w="12700">
            <a:solidFill>
              <a:srgbClr val="3A3A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Image 4" descr="boxes.png"/>
          <p:cNvPicPr/>
          <p:nvPr/>
        </p:nvPicPr>
        <p:blipFill>
          <a:blip r:embed="rId5"/>
          <a:stretch/>
        </p:blipFill>
        <p:spPr>
          <a:xfrm>
            <a:off x="822960" y="50018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 11"/>
          <p:cNvSpPr/>
          <p:nvPr/>
        </p:nvSpPr>
        <p:spPr>
          <a:xfrm>
            <a:off x="1463040" y="4837320"/>
            <a:ext cx="28342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4EC9B0"/>
                </a:solidFill>
                <a:effectLst/>
                <a:uFillTx/>
                <a:latin typeface="Cambria"/>
                <a:ea typeface="Cambria"/>
              </a:rPr>
              <a:t>Контейнеры и итераторы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2"/>
          <p:cNvSpPr/>
          <p:nvPr/>
        </p:nvSpPr>
        <p:spPr>
          <a:xfrm>
            <a:off x="4434840" y="4837320"/>
            <a:ext cx="69490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__len__, __getitem__, __iter__/__next__ — объект ведёт себя как список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3"/>
          <p:cNvSpPr/>
          <p:nvPr/>
        </p:nvSpPr>
        <p:spPr>
          <a:xfrm>
            <a:off x="548640" y="5779080"/>
            <a:ext cx="11063880" cy="895680"/>
          </a:xfrm>
          <a:prstGeom prst="roundRect">
            <a:avLst>
              <a:gd name="adj" fmla="val 10204"/>
            </a:avLst>
          </a:prstGeom>
          <a:solidFill>
            <a:srgbClr val="2D2D42"/>
          </a:solidFill>
          <a:ln w="12700">
            <a:solidFill>
              <a:srgbClr val="3A3A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0" name="Image 5" descr="door.png"/>
          <p:cNvPicPr/>
          <p:nvPr/>
        </p:nvPicPr>
        <p:blipFill>
          <a:blip r:embed="rId6"/>
          <a:stretch/>
        </p:blipFill>
        <p:spPr>
          <a:xfrm>
            <a:off x="822960" y="60350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 14"/>
          <p:cNvSpPr/>
          <p:nvPr/>
        </p:nvSpPr>
        <p:spPr>
          <a:xfrm>
            <a:off x="1463040" y="5870520"/>
            <a:ext cx="28342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4EC9B0"/>
                </a:solidFill>
                <a:effectLst/>
                <a:uFillTx/>
                <a:latin typeface="Cambria"/>
                <a:ea typeface="Cambria"/>
              </a:rPr>
              <a:t>__call__ и with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5"/>
          <p:cNvSpPr/>
          <p:nvPr/>
        </p:nvSpPr>
        <p:spPr>
          <a:xfrm>
            <a:off x="4434840" y="5870520"/>
            <a:ext cx="69490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Объект как функция и объект, который сам убирает за собой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6"/>
          <p:cNvSpPr/>
          <p:nvPr/>
        </p:nvSpPr>
        <p:spPr>
          <a:xfrm>
            <a:off x="11551680" y="6446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LibreOffice/26.8.0.3$Linux_X86_64 LibreOffice_project/680$Build-3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2026-09-09T10:49:54Z</dcterms:created>
  <dc:creator>PptxGenJS</dc:creator>
  <dc:description/>
  <dc:language>en-US</dc:language>
  <cp:lastModifiedBy/>
  <dcterms:modified xsi:type="dcterms:W3CDTF">2026-09-12T10:55:13Z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