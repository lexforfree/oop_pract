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05840"/>
            <a:ext cx="4572000" cy="4846320"/>
          </a:xfrm>
          <a:prstGeom prst="roundRect">
            <a:avLst>
              <a:gd name="adj" fmla="val 2400"/>
            </a:avLst>
          </a:prstGeom>
          <a:solidFill>
            <a:srgbClr val="272736"/>
          </a:solidFill>
          <a:ln w="12700">
            <a:solidFill>
              <a:srgbClr val="343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1005840"/>
            <a:ext cx="4572000" cy="310896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4" name="Shape 2"/>
          <p:cNvSpPr/>
          <p:nvPr/>
        </p:nvSpPr>
        <p:spPr>
          <a:xfrm>
            <a:off x="7187184" y="1138428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7388352" y="1138428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1138428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96912" y="1517904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"Я {self.name}"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anya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anya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ООП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Объектно-ориентированное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программирование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Вводная практика: от проблемы — к классам и объектам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4224528"/>
            <a:ext cx="1005840" cy="0"/>
          </a:xfrm>
          <a:prstGeom prst="line">
            <a:avLst/>
          </a:prstGeom>
          <a:noFill/>
          <a:ln w="31750">
            <a:solidFill>
              <a:srgbClr val="4EC9B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вообще нужно ООП?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студенте живут в отдельных переменных: имя, оценки — россыпью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Добавили 30-го студента — пишем 30-й набор переменных вручную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новое поле (группа) — правим сигнатуры всех функций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логика, которая с ними работает, никак не связаны между собой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2578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2D2D42"/>
          </a:solidFill>
          <a:ln/>
        </p:spPr>
      </p:sp>
      <p:pic>
        <p:nvPicPr>
          <p:cNvPr id="6" name="Image 0" descr="idea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431536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52578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классу: а если студентов 30, а не 2?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3640" y="1691640"/>
            <a:ext cx="5394960" cy="310896"/>
          </a:xfrm>
          <a:prstGeom prst="roundRect">
            <a:avLst>
              <a:gd name="adj" fmla="val 35294"/>
            </a:avLst>
          </a:prstGeom>
          <a:solidFill>
            <a:srgbClr val="2D2D42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847088"/>
            <a:ext cx="5394960" cy="155448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11" name="Shape 8"/>
          <p:cNvSpPr/>
          <p:nvPr/>
        </p:nvSpPr>
        <p:spPr>
          <a:xfrm>
            <a:off x="6409944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611112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6812280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/>
          <p:nvPr/>
        </p:nvSpPr>
        <p:spPr>
          <a:xfrm>
            <a:off x="7086600" y="1691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problem.py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2130552"/>
            <a:ext cx="488289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student1_name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student1_grades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student2_name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"Петя"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student2_grades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"{student1_name}: {average(student1_grades)}"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"{student2_name}: {average(student2_grades)}"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и поведение — вместе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474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310896"/>
          </a:xfrm>
          <a:prstGeom prst="roundRect">
            <a:avLst>
              <a:gd name="adj" fmla="val 35294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47088"/>
            <a:ext cx="6309360" cy="155448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6916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student.py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130552"/>
            <a:ext cx="579729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"{self.name}: {self.average():.1f}"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"Петя"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7830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— чертёж, по которому создаются объекты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— что происходит в момент создания объекта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— «я сам»: объект обращается к своим же данным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average() — метод: функция, которая знает свои данные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ПОНЯТИЯ НА ПАЛЬЦАХ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Класс, объект, атрибут, метод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6" name="Image 0" descr="class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628" y="245059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Чертёж «Студент»: какие поля и действия будут у каждого объекта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7830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6532" y="2194560"/>
            <a:ext cx="914400" cy="91440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1" name="Image 1" descr="object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45059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39312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 студент Аня, созданный по чертежу Student(...)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72784" y="17830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8604" y="2194560"/>
            <a:ext cx="914400" cy="91440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6" name="Image 2" descr="attribut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2" y="245059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Атрибут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01384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self.name, self.grades — данные, которые хранит объект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34856" y="178308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80676" y="2194560"/>
            <a:ext cx="914400" cy="91440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21" name="Image 3" descr="method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450592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363456" y="379476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average() — функция, которая работает с данными объекта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НЕМНОГО МАГИИ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Учим объекты вести себя как «свои»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— как объект печатается через print()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__lt__ — как объект сравнивается через &lt; при сортировке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этого объекты работают со встроенными sorted(), print() без плясок с бубном</a:t>
            </a:r>
            <a:endParaRPr lang="en-US" sz="15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первый настоящий вау-эффект от ООП на практике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63640" y="16916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63640" y="1691640"/>
            <a:ext cx="5394960" cy="310896"/>
          </a:xfrm>
          <a:prstGeom prst="roundRect">
            <a:avLst>
              <a:gd name="adj" fmla="val 35294"/>
            </a:avLst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263640" y="1847088"/>
            <a:ext cx="5394960" cy="155448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8" name="Shape 6"/>
          <p:cNvSpPr/>
          <p:nvPr/>
        </p:nvSpPr>
        <p:spPr>
          <a:xfrm>
            <a:off x="6409944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6611112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691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sort_students.py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130552"/>
            <a:ext cx="488289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__lt__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__str__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"{self.name}: {self.average():.1f}"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"Петя"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])]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ЗАГАДКА ДЛЯ ЛЕКЦИИ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общего у этих классов?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434840"/>
          </a:xfrm>
          <a:prstGeom prst="roundRect">
            <a:avLst>
              <a:gd name="adj" fmla="val 2474"/>
            </a:avLst>
          </a:prstGeom>
          <a:solidFill>
            <a:srgbClr val="272736"/>
          </a:solidFill>
          <a:ln w="12700">
            <a:solidFill>
              <a:srgbClr val="3A3A5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6309360" cy="310896"/>
          </a:xfrm>
          <a:prstGeom prst="roundRect">
            <a:avLst>
              <a:gd name="adj" fmla="val 35294"/>
            </a:avLst>
          </a:prstGeom>
          <a:solidFill>
            <a:srgbClr val="2D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47088"/>
            <a:ext cx="6309360" cy="155448"/>
          </a:xfrm>
          <a:prstGeom prst="rect">
            <a:avLst/>
          </a:prstGeom>
          <a:solidFill>
            <a:srgbClr val="2D2D4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80594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80594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180594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6916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graduate.py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130552"/>
            <a:ext cx="5797296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"Я {self.name}, студент"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"Я {self.name}, аспирант"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"Петя"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introduce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50" dirty="0"/>
          </a:p>
        </p:txBody>
      </p:sp>
      <p:pic>
        <p:nvPicPr>
          <p:cNvPr id="12" name="Image 0" descr="inheri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82880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8040" y="251460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вообще не пишет __init__ — но у него уже есть self.name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introduce() можно переопределить, оставив всё остальное как есть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думаете, что тут «общее», а что «своё»?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178040" y="5394960"/>
            <a:ext cx="4480560" cy="685800"/>
          </a:xfrm>
          <a:prstGeom prst="roundRect">
            <a:avLst>
              <a:gd name="adj" fmla="val 13333"/>
            </a:avLst>
          </a:prstGeom>
          <a:solidFill>
            <a:srgbClr val="2D2D42"/>
          </a:solidFill>
          <a:ln/>
        </p:spPr>
      </p:sp>
      <p:sp>
        <p:nvSpPr>
          <p:cNvPr id="15" name="Text 12"/>
          <p:cNvSpPr/>
          <p:nvPr/>
        </p:nvSpPr>
        <p:spPr>
          <a:xfrm>
            <a:off x="7360920" y="5394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E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 узнаете на лекции — сегодня хватит интуиции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cke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и практическое задание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2263140"/>
            <a:ext cx="731520" cy="73152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6" name="Image 1" descr="code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427732"/>
            <a:ext cx="402336" cy="402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74520" y="20848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Сегодня прошли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874520" y="2487168"/>
            <a:ext cx="9464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Проблему без классов → класс Student → self и __init__ → __str__/__lt__ → тизер наследования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48640" y="3593592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936492"/>
            <a:ext cx="731520" cy="73152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1" name="Image 2" descr="task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101084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74520" y="375818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Задание на пару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874520" y="4160520"/>
            <a:ext cx="9464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свой класс (Book, Car, Pet) с 2-3 атрибутами, методом и __str__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5266944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2D2D42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68680" y="5609844"/>
            <a:ext cx="731520" cy="731520"/>
          </a:xfrm>
          <a:prstGeom prst="ellipse">
            <a:avLst/>
          </a:prstGeom>
          <a:solidFill>
            <a:srgbClr val="1E1E2E"/>
          </a:solidFill>
          <a:ln w="19050">
            <a:solidFill>
              <a:srgbClr val="4EC9B0"/>
            </a:solidFill>
            <a:prstDash val="solid"/>
          </a:ln>
        </p:spPr>
      </p:sp>
      <p:pic>
        <p:nvPicPr>
          <p:cNvPr id="16" name="Image 3" descr="idea_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774436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74520" y="543153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лекции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874520" y="5833872"/>
            <a:ext cx="9464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Разберём термины строго: инкапсуляция, наследование, полиморфизм — с формальными определениями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2026-09-02T11:08:04Z</dcterms:created>
  <dcterms:modified xsi:type="dcterms:W3CDTF">2026-09-02T11:08:04Z</dcterms:modified>
</cp:coreProperties>
</file>